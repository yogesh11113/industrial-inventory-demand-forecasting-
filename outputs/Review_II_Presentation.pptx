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INDUSTRIAL INVENTORY DEMAND FORECASTING</a:t>
            </a:r>
          </a:p>
          <a:p>
            <a:pPr>
              <a:spcBef>
                <a:spcPts val="1500"/>
              </a:spcBef>
              <a:defRPr sz="2000">
                <a:solidFill>
                  <a:srgbClr val="ADD8E6"/>
                </a:solidFill>
              </a:defRPr>
            </a:pPr>
            <a:r>
              <a:t>PBL Project Review-II (30% Progress Milestone)</a:t>
            </a:r>
          </a:p>
          <a:p>
            <a:pPr>
              <a:spcBef>
                <a:spcPts val="3000"/>
              </a:spcBef>
              <a:defRPr sz="1400">
                <a:solidFill>
                  <a:srgbClr val="FFFFFF"/>
                </a:solidFill>
              </a:defRPr>
            </a:pPr>
            <a:r>
              <a:t>Department of Computer Science Engineering</a:t>
            </a:r>
            <a:br/>
            <a:r>
              <a:t>1st Year B.E. CSE Student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043"/>
                </a:solidFill>
              </a:defRPr>
            </a:pPr>
            <a:r>
              <a:t>1. Project Progress Overview (30%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Completed 30% Milestones:</a:t>
            </a:r>
          </a:p>
          <a:p>
            <a:pPr>
              <a:spcBef>
                <a:spcPts val="400"/>
              </a:spcBef>
              <a:defRPr sz="1300"/>
            </a:pPr>
            <a:r>
              <a:t>✓ Synthetic Dataset Generation (3,650 daily records across 10 products)</a:t>
            </a:r>
          </a:p>
          <a:p>
            <a:pPr>
              <a:spcBef>
                <a:spcPts val="400"/>
              </a:spcBef>
              <a:defRPr sz="1300"/>
            </a:pPr>
            <a:r>
              <a:t>✓ Data Preprocessing &amp; Validation (Missing values check, date parsing, shape: 3650x12)</a:t>
            </a:r>
          </a:p>
          <a:p>
            <a:pPr>
              <a:spcBef>
                <a:spcPts val="400"/>
              </a:spcBef>
              <a:defRPr sz="1300"/>
            </a:pPr>
            <a:r>
              <a:t>✓ Exploratory Data Analysis (7 comprehensive charts saved in outputs/graphs/)</a:t>
            </a:r>
          </a:p>
          <a:p>
            <a:pPr>
              <a:spcBef>
                <a:spcPts val="400"/>
              </a:spcBef>
              <a:defRPr sz="1300"/>
            </a:pPr>
            <a:r>
              <a:t>✓ Feature Engineering (Temporal features, Lag_1, Lag_7, Rolling_Mean_7, Rolling_Mean_30)</a:t>
            </a:r>
          </a:p>
          <a:p>
            <a:pPr>
              <a:spcBef>
                <a:spcPts val="400"/>
              </a:spcBef>
              <a:defRPr sz="1300"/>
            </a:pPr>
            <a:r>
              <a:t>✓ Machine Learning Baseline (Linear Regression with Chronological 80/20 Train/Test Split)</a:t>
            </a:r>
          </a:p>
          <a:p>
            <a:pPr>
              <a:spcBef>
                <a:spcPts val="400"/>
              </a:spcBef>
              <a:defRPr sz="1300"/>
            </a:pPr>
            <a:r>
              <a:t>✓ Model Evaluation (Real Metrics: MAE: 22.19, RMSE: 33.40, R² Score: 0.9327)</a:t>
            </a:r>
          </a:p>
          <a:p>
            <a:pPr>
              <a:spcBef>
                <a:spcPts val="400"/>
              </a:spcBef>
              <a:defRPr sz="1300"/>
            </a:pPr>
            <a:r>
              <a:t>✓ Basic Reorder Recommendation Logic &amp; Streamlit Web Prototype App</a:t>
            </a:r>
          </a:p>
          <a:p>
            <a:pPr>
              <a:spcBef>
                <a:spcPts val="1500"/>
              </a:spcBef>
              <a:defRPr b="1" sz="1600"/>
            </a:pPr>
            <a:r>
              <a:t>Remaining Scope for Review-III &amp; Final Deployment:</a:t>
            </a:r>
          </a:p>
          <a:p>
            <a:pPr>
              <a:spcBef>
                <a:spcPts val="300"/>
              </a:spcBef>
              <a:defRPr sz="1300"/>
            </a:pPr>
            <a:r>
              <a:t>• Advanced Time-Series Modeling (FB Prophet &amp; LSTM Deep Learning)</a:t>
            </a:r>
          </a:p>
          <a:p>
            <a:pPr>
              <a:spcBef>
                <a:spcPts val="300"/>
              </a:spcBef>
              <a:defRPr sz="1300"/>
            </a:pPr>
            <a:r>
              <a:t>• Model Comparison &amp; Hyperparameter Tuning</a:t>
            </a:r>
          </a:p>
          <a:p>
            <a:pPr>
              <a:spcBef>
                <a:spcPts val="300"/>
              </a:spcBef>
              <a:defRPr sz="1300"/>
            </a:pPr>
            <a:r>
              <a:t>• Advanced Reorder Point (ROP) &amp; Safety Stock Calculations</a:t>
            </a:r>
          </a:p>
          <a:p>
            <a:pPr>
              <a:spcBef>
                <a:spcPts val="300"/>
              </a:spcBef>
              <a:defRPr sz="1300"/>
            </a:pPr>
            <a:r>
              <a:t>• Multi-page Production Dashboard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043"/>
                </a:solidFill>
              </a:defRPr>
            </a:pPr>
            <a:r>
              <a:t>2. Data Collection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/>
            </a:pPr>
            <a:r>
              <a:t>• Dataset Description: Realistic synthetic dataset created for academic reproducibility.</a:t>
            </a:r>
          </a:p>
          <a:p>
            <a:pPr>
              <a:spcBef>
                <a:spcPts val="1000"/>
              </a:spcBef>
              <a:defRPr sz="1400"/>
            </a:pPr>
            <a:r>
              <a:t>• Sample Size: 3,650 total records spanning 365 days (2025-01-01 to 2025-12-31) for 10 distinct products.</a:t>
            </a:r>
          </a:p>
          <a:p>
            <a:pPr>
              <a:spcBef>
                <a:spcPts val="1000"/>
              </a:spcBef>
              <a:defRPr sz="1400"/>
            </a:pPr>
            <a:r>
              <a:t>• Core Features: Date, Product_ID, Category, Sales_Quantity, Consumption, Current_Stock, Lead_Time_Days, Supplier, Unit_Price, Stock_Level, Demand.</a:t>
            </a:r>
          </a:p>
          <a:p>
            <a:pPr>
              <a:spcBef>
                <a:spcPts val="1000"/>
              </a:spcBef>
              <a:defRPr sz="1400"/>
            </a:pPr>
            <a:r>
              <a:t>• Demand Patterns: Incorporates baseline demand, annual sinusoidal seasonality, weekday/weekend variations, and realistic random noise.</a:t>
            </a:r>
          </a:p>
          <a:p>
            <a:pPr>
              <a:spcBef>
                <a:spcPts val="1000"/>
              </a:spcBef>
              <a:defRPr sz="1400"/>
            </a:pPr>
            <a:r>
              <a:t>• Preprocessing Results: Zero missing values, zero duplicates, sorted chronologically, normalized stock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043"/>
                </a:solidFill>
              </a:defRPr>
            </a:pPr>
            <a:r>
              <a:t>3. Methodology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400"/>
            </a:pPr>
            <a:r>
              <a:t>• Data Pipeline: Raw CSV -&gt; Preprocessing &amp; Cleaning -&gt; Feature Extraction -&gt; Chronological Split -&gt; Model Training</a:t>
            </a:r>
          </a:p>
          <a:p>
            <a:pPr>
              <a:spcBef>
                <a:spcPts val="1200"/>
              </a:spcBef>
              <a:defRPr sz="1400"/>
            </a:pPr>
            <a:r>
              <a:t>• Preventing Data Leakage: All lag (Lag_1, Lag_7) and rolling statistics (Rolling_Mean_7, 30) are strictly computed using shifted past historical demand.</a:t>
            </a:r>
          </a:p>
          <a:p>
            <a:pPr>
              <a:spcBef>
                <a:spcPts val="1200"/>
              </a:spcBef>
              <a:defRPr sz="1400"/>
            </a:pPr>
            <a:r>
              <a:t>• Time-Based Train/Test Split: Applied an 80% past chronological training set and 20% future test set (no random shuffling to preserve time ordering).</a:t>
            </a:r>
          </a:p>
          <a:p>
            <a:pPr>
              <a:spcBef>
                <a:spcPts val="1200"/>
              </a:spcBef>
              <a:defRPr sz="1400"/>
            </a:pPr>
            <a:r>
              <a:t>• Reorder Decision Logic: Triggers REORDER REQUIRED if Current_Stock &lt; (Predicted_Demand * Lead_Time * 1.2 Safety Margin).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043"/>
                </a:solidFill>
              </a:defRPr>
            </a:pPr>
            <a:r>
              <a:t>4. System Architecture &amp; Module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300"/>
            </a:pPr>
            <a:r>
              <a:t>• src/generate_data.py — Synthesizes multi-product historical dataset</a:t>
            </a:r>
          </a:p>
          <a:p>
            <a:pPr>
              <a:spcBef>
                <a:spcPts val="600"/>
              </a:spcBef>
              <a:defRPr sz="1300"/>
            </a:pPr>
            <a:r>
              <a:t>• src/data_preprocessing.py — Cleans, formats, and validates dataset integrity</a:t>
            </a:r>
          </a:p>
          <a:p>
            <a:pPr>
              <a:spcBef>
                <a:spcPts val="600"/>
              </a:spcBef>
              <a:defRPr sz="1300"/>
            </a:pPr>
            <a:r>
              <a:t>• src/eda.py — Generates 7 EDA analytical plots for demand &amp; inventory distribution</a:t>
            </a:r>
          </a:p>
          <a:p>
            <a:pPr>
              <a:spcBef>
                <a:spcPts val="600"/>
              </a:spcBef>
              <a:defRPr sz="1300"/>
            </a:pPr>
            <a:r>
              <a:t>• src/feature_engineering.py — Constructs temporal, lag, and rolling features without data leakage</a:t>
            </a:r>
          </a:p>
          <a:p>
            <a:pPr>
              <a:spcBef>
                <a:spcPts val="600"/>
              </a:spcBef>
              <a:defRPr sz="1300"/>
            </a:pPr>
            <a:r>
              <a:t>• src/model_training.py — Trains Linear Regression model and exports evaluation metrics &amp; predictions</a:t>
            </a:r>
          </a:p>
          <a:p>
            <a:pPr>
              <a:spcBef>
                <a:spcPts val="600"/>
              </a:spcBef>
              <a:defRPr sz="1300"/>
            </a:pPr>
            <a:r>
              <a:t>• src/prediction.py — Loads saved joblib model for real-time demand inference</a:t>
            </a:r>
          </a:p>
          <a:p>
            <a:pPr>
              <a:spcBef>
                <a:spcPts val="600"/>
              </a:spcBef>
              <a:defRPr sz="1300"/>
            </a:pPr>
            <a:r>
              <a:t>• src/reorder_recommendation.py — Executes stock replenishment recommendation algorithm</a:t>
            </a:r>
          </a:p>
          <a:p>
            <a:pPr>
              <a:spcBef>
                <a:spcPts val="600"/>
              </a:spcBef>
              <a:defRPr sz="1300"/>
            </a:pPr>
            <a:r>
              <a:t>• src/app/app.py — Streamlit web interface for interactive product demand lookup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043"/>
                </a:solidFill>
              </a:defRPr>
            </a:pPr>
            <a:r>
              <a:t>5. Implementation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/>
            </a:pPr>
            <a:r>
              <a:t>• Programming Language: Python 3.12 / 3.14</a:t>
            </a:r>
          </a:p>
          <a:p>
            <a:pPr>
              <a:spcBef>
                <a:spcPts val="1000"/>
              </a:spcBef>
              <a:defRPr sz="1400"/>
            </a:pPr>
            <a:r>
              <a:t>• Development Environment: VS Code / Jupyter Notebook</a:t>
            </a:r>
          </a:p>
          <a:p>
            <a:pPr>
              <a:spcBef>
                <a:spcPts val="1000"/>
              </a:spcBef>
              <a:defRPr sz="1400"/>
            </a:pPr>
            <a:r>
              <a:t>• Data Processing &amp; Math: Pandas, NumPy</a:t>
            </a:r>
          </a:p>
          <a:p>
            <a:pPr>
              <a:spcBef>
                <a:spcPts val="1000"/>
              </a:spcBef>
              <a:defRPr sz="1400"/>
            </a:pPr>
            <a:r>
              <a:t>• Machine Learning Library: Scikit-Learn (LinearRegression)</a:t>
            </a:r>
          </a:p>
          <a:p>
            <a:pPr>
              <a:spcBef>
                <a:spcPts val="1000"/>
              </a:spcBef>
              <a:defRPr sz="1400"/>
            </a:pPr>
            <a:r>
              <a:t>• Model Persistence: Joblib</a:t>
            </a:r>
          </a:p>
          <a:p>
            <a:pPr>
              <a:spcBef>
                <a:spcPts val="1000"/>
              </a:spcBef>
              <a:defRPr sz="1400"/>
            </a:pPr>
            <a:r>
              <a:t>• Visualization Libraries: Matplotlib, Seaborn</a:t>
            </a:r>
          </a:p>
          <a:p>
            <a:pPr>
              <a:spcBef>
                <a:spcPts val="1000"/>
              </a:spcBef>
              <a:defRPr sz="1400"/>
            </a:pPr>
            <a:r>
              <a:t>• Web Application Framework: 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043"/>
                </a:solidFill>
              </a:defRPr>
            </a:pPr>
            <a:r>
              <a:t>6. Implementation Progress &amp;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b="1" sz="1500"/>
            </a:pPr>
            <a:r>
              <a:t>• Actual Model Performance (Linear Regression Baseline)</a:t>
            </a:r>
          </a:p>
          <a:p>
            <a:pPr>
              <a:spcBef>
                <a:spcPts val="600"/>
              </a:spcBef>
              <a:defRPr sz="1300"/>
            </a:pPr>
            <a:r>
              <a:t>   - Mean Absolute Error (MAE): 22.19 units</a:t>
            </a:r>
          </a:p>
          <a:p>
            <a:pPr>
              <a:spcBef>
                <a:spcPts val="600"/>
              </a:spcBef>
              <a:defRPr sz="1300"/>
            </a:pPr>
            <a:r>
              <a:t>   - Mean Squared Error (MSE): 1115.77 units²</a:t>
            </a:r>
          </a:p>
          <a:p>
            <a:pPr>
              <a:spcBef>
                <a:spcPts val="600"/>
              </a:spcBef>
              <a:defRPr sz="1300"/>
            </a:pPr>
            <a:r>
              <a:t>   - Root Mean Squared Error (RMSE): 33.40 units</a:t>
            </a:r>
          </a:p>
          <a:p>
            <a:pPr>
              <a:spcBef>
                <a:spcPts val="600"/>
              </a:spcBef>
              <a:defRPr sz="1300"/>
            </a:pPr>
            <a:r>
              <a:t>   - R² Score (Coefficient of Determination): 0.9327 (93.27% Variance Explained)</a:t>
            </a:r>
          </a:p>
          <a:p>
            <a:pPr>
              <a:spcBef>
                <a:spcPts val="600"/>
              </a:spcBef>
              <a:defRPr sz="1300"/>
            </a:pPr>
            <a:r>
              <a:t>   - Sample Recommendation Output: Product: PRD_001 | Predicted Demand: 120 | Current Stock: 80 | Status: REORDER REQUIRED | Recommended Qty: 640 units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043"/>
                </a:solidFill>
              </a:defRPr>
            </a:pPr>
            <a:r>
              <a:t>7. Current Challenges &amp; Future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/>
            </a:pPr>
            <a:r>
              <a:t>Current Technical &amp; Modeling Challenges:</a:t>
            </a:r>
          </a:p>
          <a:p>
            <a:pPr>
              <a:spcBef>
                <a:spcPts val="400"/>
              </a:spcBef>
              <a:defRPr sz="1300"/>
            </a:pPr>
            <a:r>
              <a:t>1. Capturing Complex Non-Linear Seasonality (Linear Regression has baseline limits)</a:t>
            </a:r>
          </a:p>
          <a:p>
            <a:pPr>
              <a:spcBef>
                <a:spcPts val="400"/>
              </a:spcBef>
              <a:defRPr sz="1300"/>
            </a:pPr>
            <a:r>
              <a:t>2. Handling Sudden Supply Chain Lead Time Fluctuations</a:t>
            </a:r>
          </a:p>
          <a:p>
            <a:pPr>
              <a:spcBef>
                <a:spcPts val="400"/>
              </a:spcBef>
              <a:defRPr sz="1300"/>
            </a:pPr>
            <a:r>
              <a:t>3. Optimizing Safety Stock Parameters dynamically</a:t>
            </a:r>
          </a:p>
          <a:p>
            <a:pPr>
              <a:spcBef>
                <a:spcPts val="1200"/>
              </a:spcBef>
              <a:defRPr b="1" sz="1500"/>
            </a:pPr>
            <a:r>
              <a:t>Future Action Plan for Review-III &amp; Final Review:</a:t>
            </a:r>
          </a:p>
          <a:p>
            <a:pPr>
              <a:spcBef>
                <a:spcPts val="400"/>
              </a:spcBef>
              <a:defRPr sz="1300"/>
            </a:pPr>
            <a:r>
              <a:t>• Implementation of Prophet &amp; LSTM Neural Network Models</a:t>
            </a:r>
          </a:p>
          <a:p>
            <a:pPr>
              <a:spcBef>
                <a:spcPts val="400"/>
              </a:spcBef>
              <a:defRPr sz="1300"/>
            </a:pPr>
            <a:r>
              <a:t>• Comparative Analysis (Linear Regression vs Prophet vs LSTM)</a:t>
            </a:r>
          </a:p>
          <a:p>
            <a:pPr>
              <a:spcBef>
                <a:spcPts val="400"/>
              </a:spcBef>
              <a:defRPr sz="1300"/>
            </a:pPr>
            <a:r>
              <a:t>• Dynamic Safety Stock &amp; Economic Order Quantity (EOQ) Integration</a:t>
            </a:r>
          </a:p>
          <a:p>
            <a:pPr>
              <a:spcBef>
                <a:spcPts val="400"/>
              </a:spcBef>
              <a:defRPr sz="1300"/>
            </a:pPr>
            <a:r>
              <a:t>• Deployment of Full Interactive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500"/>
              </a:spcBef>
              <a:defRPr sz="1800">
                <a:solidFill>
                  <a:srgbClr val="ADD8E6"/>
                </a:solidFill>
              </a:defRPr>
            </a:pPr>
            <a:r>
              <a:t>Questions &amp; Feedback Welcome</a:t>
            </a:r>
            <a:br/>
            <a:r>
              <a:t>Industrial Inventory Demand Forecasting — Review-II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